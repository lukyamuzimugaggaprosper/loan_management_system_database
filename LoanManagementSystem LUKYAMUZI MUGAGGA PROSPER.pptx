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C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15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-1872" y="-4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90A03-4642-4702-B413-409DE342D30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90E52-AEDD-4622-A26F-CFDCBCAB2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5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"/>
          <p:cNvSpPr/>
          <p:nvPr/>
        </p:nvSpPr>
        <p:spPr>
          <a:xfrm>
            <a:off x="133004" y="901894"/>
            <a:ext cx="3657600" cy="3657600"/>
          </a:xfrm>
          <a:prstGeom prst="ellipse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15000"/>
              </a:srgbClr>
            </a:solidFill>
            <a:prstDash val="solid"/>
          </a:ln>
        </p:spPr>
      </p:sp>
      <p:sp>
        <p:nvSpPr>
          <p:cNvPr id="7" name="Rectangle 6"/>
          <p:cNvSpPr/>
          <p:nvPr/>
        </p:nvSpPr>
        <p:spPr>
          <a:xfrm>
            <a:off x="-33250" y="4399560"/>
            <a:ext cx="7647709" cy="73775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Data 2"/>
          <p:cNvSpPr/>
          <p:nvPr/>
        </p:nvSpPr>
        <p:spPr>
          <a:xfrm>
            <a:off x="7514705" y="0"/>
            <a:ext cx="1629295" cy="5143500"/>
          </a:xfrm>
          <a:prstGeom prst="flowChartInputOutpu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5389" y="194175"/>
            <a:ext cx="6999316" cy="144655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  <a:latin typeface="Arial Black" pitchFamily="34" charset="0"/>
              </a:rPr>
              <a:t>LOAN MANAGEMENT SYSTEM</a:t>
            </a:r>
            <a:endParaRPr lang="en-US" sz="44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389" y="2161308"/>
            <a:ext cx="73318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FC000"/>
                </a:solidFill>
              </a:rPr>
              <a:t>DATABASE MANAGEMENT SYSTEM</a:t>
            </a:r>
          </a:p>
          <a:p>
            <a:r>
              <a:rPr lang="en-US" sz="3200" b="1" dirty="0" smtClean="0">
                <a:latin typeface="Century Schoolbook" pitchFamily="18" charset="0"/>
              </a:rPr>
              <a:t>Group A</a:t>
            </a:r>
            <a:endParaRPr lang="en-US" sz="3200" b="1" dirty="0">
              <a:latin typeface="Century Schoolbook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6625" y="4456952"/>
            <a:ext cx="8478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chemeClr val="bg1"/>
                </a:solidFill>
              </a:rPr>
              <a:t>LUKYAMUZI MUGAGGA PROSPER 2025/BCS/213/PS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Shape 1"/>
          <p:cNvSpPr/>
          <p:nvPr/>
        </p:nvSpPr>
        <p:spPr>
          <a:xfrm>
            <a:off x="-714895" y="917450"/>
            <a:ext cx="3657600" cy="3657600"/>
          </a:xfrm>
          <a:prstGeom prst="ellipse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1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9681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57200" cy="1371600"/>
          </a:xfrm>
          <a:prstGeom prst="rect">
            <a:avLst/>
          </a:prstGeom>
          <a:solidFill>
            <a:srgbClr val="FFC00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463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Loan Management System?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457200" cy="1371600"/>
          </a:xfrm>
          <a:prstGeom prst="rect">
            <a:avLst/>
          </a:prstGeom>
          <a:solidFill>
            <a:srgbClr val="FFC00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463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users &amp; key features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43000"/>
            <a:ext cx="457200" cy="1371600"/>
          </a:xfrm>
          <a:prstGeom prst="rect">
            <a:avLst/>
          </a:prstGeom>
          <a:solidFill>
            <a:srgbClr val="FFC00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63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294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 &amp; relationships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28600" y="2743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743200"/>
            <a:ext cx="457200" cy="1371600"/>
          </a:xfrm>
          <a:prstGeom prst="rect">
            <a:avLst/>
          </a:prstGeom>
          <a:solidFill>
            <a:srgbClr val="FFC00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063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7724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154680" y="2743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743200"/>
            <a:ext cx="457200" cy="1371600"/>
          </a:xfrm>
          <a:prstGeom prst="rect">
            <a:avLst/>
          </a:prstGeom>
          <a:solidFill>
            <a:srgbClr val="FFC00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063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0332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70332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&amp; table structure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080760" y="2743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743200"/>
            <a:ext cx="457200" cy="1371600"/>
          </a:xfrm>
          <a:prstGeom prst="rect">
            <a:avLst/>
          </a:prstGeom>
          <a:solidFill>
            <a:srgbClr val="FFC00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0632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62940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&amp; results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4114800" cy="411480"/>
          </a:xfrm>
          <a:prstGeom prst="rect">
            <a:avLst/>
          </a:prstGeom>
          <a:solidFill>
            <a:srgbClr val="FFC00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loan processing is slow, error-prone and hard to track. Banks need: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loan application workflow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repayment tracking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customer credit records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regulatory compliance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loan approval decisions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343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97280"/>
            <a:ext cx="4343400" cy="411480"/>
          </a:xfrm>
          <a:prstGeom prst="rect">
            <a:avLst/>
          </a:prstGeom>
          <a:solidFill>
            <a:srgbClr val="FFC00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BENEFITS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reduction in processing time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default rate via risk scoring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loan portfolio capacity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4343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926080"/>
            <a:ext cx="4343400" cy="411480"/>
          </a:xfrm>
          <a:prstGeom prst="rect">
            <a:avLst/>
          </a:prstGeom>
          <a:solidFill>
            <a:srgbClr val="FFC000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required (intangible cost)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setup &amp; hardware investment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from legacy systems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multi-currency support (v1)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35766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196596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800" y="1953485"/>
            <a:ext cx="16583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KYC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419800" y="277644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lookup</a:t>
            </a:r>
            <a:endParaRPr lang="en-US" sz="2000" b="1" dirty="0"/>
          </a:p>
        </p:txBody>
      </p:sp>
      <p:sp>
        <p:nvSpPr>
          <p:cNvPr id="13" name="Text 11"/>
          <p:cNvSpPr/>
          <p:nvPr/>
        </p:nvSpPr>
        <p:spPr>
          <a:xfrm>
            <a:off x="459284" y="3828005"/>
            <a:ext cx="17809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management</a:t>
            </a:r>
            <a:endParaRPr lang="en-US" sz="2000" b="1" dirty="0"/>
          </a:p>
        </p:txBody>
      </p:sp>
      <p:sp>
        <p:nvSpPr>
          <p:cNvPr id="14" name="Shape 12"/>
          <p:cNvSpPr/>
          <p:nvPr/>
        </p:nvSpPr>
        <p:spPr>
          <a:xfrm>
            <a:off x="246888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97280"/>
            <a:ext cx="2057400" cy="502920"/>
          </a:xfrm>
          <a:prstGeom prst="rect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15214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60080" y="195348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 form</a:t>
            </a:r>
            <a:endParaRPr lang="en-US" sz="2000" b="1" dirty="0"/>
          </a:p>
        </p:txBody>
      </p:sp>
      <p:sp>
        <p:nvSpPr>
          <p:cNvPr id="20" name="Text 18"/>
          <p:cNvSpPr/>
          <p:nvPr/>
        </p:nvSpPr>
        <p:spPr>
          <a:xfrm>
            <a:off x="2660080" y="277644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2000" b="1" dirty="0"/>
          </a:p>
        </p:txBody>
      </p:sp>
      <p:sp>
        <p:nvSpPr>
          <p:cNvPr id="22" name="Text 20"/>
          <p:cNvSpPr/>
          <p:nvPr/>
        </p:nvSpPr>
        <p:spPr>
          <a:xfrm>
            <a:off x="2682936" y="3828005"/>
            <a:ext cx="1629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tracking</a:t>
            </a:r>
            <a:endParaRPr lang="en-US" sz="2000" b="1" dirty="0"/>
          </a:p>
        </p:txBody>
      </p:sp>
      <p:sp>
        <p:nvSpPr>
          <p:cNvPr id="23" name="Shape 21"/>
          <p:cNvSpPr/>
          <p:nvPr/>
        </p:nvSpPr>
        <p:spPr>
          <a:xfrm>
            <a:off x="470916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97280"/>
            <a:ext cx="2057400" cy="502920"/>
          </a:xfrm>
          <a:prstGeom prst="rect">
            <a:avLst/>
          </a:prstGeom>
          <a:solidFill>
            <a:srgbClr val="FFC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15214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00360" y="1953485"/>
            <a:ext cx="182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engine</a:t>
            </a:r>
            <a:endParaRPr lang="en-US" sz="2000" b="1" dirty="0"/>
          </a:p>
        </p:txBody>
      </p:sp>
      <p:sp>
        <p:nvSpPr>
          <p:cNvPr id="29" name="Text 27"/>
          <p:cNvSpPr/>
          <p:nvPr/>
        </p:nvSpPr>
        <p:spPr>
          <a:xfrm>
            <a:off x="4900359" y="2776445"/>
            <a:ext cx="1666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 &amp; decision</a:t>
            </a:r>
            <a:endParaRPr lang="en-US" sz="2000" b="1" dirty="0"/>
          </a:p>
        </p:txBody>
      </p:sp>
      <p:sp>
        <p:nvSpPr>
          <p:cNvPr id="31" name="Text 29"/>
          <p:cNvSpPr/>
          <p:nvPr/>
        </p:nvSpPr>
        <p:spPr>
          <a:xfrm>
            <a:off x="4900360" y="382800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authorization</a:t>
            </a:r>
            <a:endParaRPr lang="en-US" sz="2000" b="1" dirty="0"/>
          </a:p>
        </p:txBody>
      </p:sp>
      <p:sp>
        <p:nvSpPr>
          <p:cNvPr id="32" name="Shape 30"/>
          <p:cNvSpPr/>
          <p:nvPr/>
        </p:nvSpPr>
        <p:spPr>
          <a:xfrm>
            <a:off x="694944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0" y="1097280"/>
            <a:ext cx="2057400" cy="502920"/>
          </a:xfrm>
          <a:prstGeom prst="rect">
            <a:avLst/>
          </a:prstGeom>
          <a:solidFill>
            <a:srgbClr val="FFC00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1152144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Module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140640" y="195348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scheduling</a:t>
            </a:r>
            <a:endParaRPr lang="en-US" sz="2000" b="1" dirty="0"/>
          </a:p>
        </p:txBody>
      </p:sp>
      <p:sp>
        <p:nvSpPr>
          <p:cNvPr id="38" name="Text 36"/>
          <p:cNvSpPr/>
          <p:nvPr/>
        </p:nvSpPr>
        <p:spPr>
          <a:xfrm>
            <a:off x="7140640" y="277644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tracking</a:t>
            </a:r>
            <a:endParaRPr lang="en-US" sz="2000" b="1" dirty="0"/>
          </a:p>
        </p:txBody>
      </p:sp>
      <p:sp>
        <p:nvSpPr>
          <p:cNvPr id="40" name="Text 38"/>
          <p:cNvSpPr/>
          <p:nvPr/>
        </p:nvSpPr>
        <p:spPr>
          <a:xfrm>
            <a:off x="7140640" y="3599405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24000" indent="-180000">
              <a:buFont typeface="Arial" pitchFamily="34" charset="0"/>
              <a:buChar char="•"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 penalties</a:t>
            </a:r>
            <a:endParaRPr 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 — ENTITIES &amp; ATTRIBUTES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103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2103120" cy="457200"/>
          </a:xfrm>
          <a:prstGeom prst="rect">
            <a:avLst/>
          </a:prstGeom>
          <a:solidFill>
            <a:srgbClr val="FFC00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52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2608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(PK)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29260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29260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NationalID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29260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2000" b="1" dirty="0"/>
          </a:p>
        </p:txBody>
      </p:sp>
      <p:sp>
        <p:nvSpPr>
          <p:cNvPr id="13" name="Text 11"/>
          <p:cNvSpPr/>
          <p:nvPr/>
        </p:nvSpPr>
        <p:spPr>
          <a:xfrm>
            <a:off x="292608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292608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2000" b="1" dirty="0"/>
          </a:p>
        </p:txBody>
      </p:sp>
      <p:sp>
        <p:nvSpPr>
          <p:cNvPr id="15" name="Text 13"/>
          <p:cNvSpPr/>
          <p:nvPr/>
        </p:nvSpPr>
        <p:spPr>
          <a:xfrm>
            <a:off x="292608" y="4398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2423160" y="1097280"/>
            <a:ext cx="2103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41448" y="1097280"/>
            <a:ext cx="2103120" cy="45720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32888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(PK)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32888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</a:t>
            </a:r>
            <a:endParaRPr lang="en-US" sz="2000" b="1" dirty="0">
              <a:solidFill>
                <a:srgbClr val="FFC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3288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LoanType</a:t>
            </a:r>
            <a:endParaRPr lang="en-US" sz="2000" b="1" dirty="0"/>
          </a:p>
        </p:txBody>
      </p:sp>
      <p:sp>
        <p:nvSpPr>
          <p:cNvPr id="22" name="Text 20"/>
          <p:cNvSpPr/>
          <p:nvPr/>
        </p:nvSpPr>
        <p:spPr>
          <a:xfrm>
            <a:off x="253288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PrincipalAmount</a:t>
            </a:r>
            <a:endParaRPr lang="en-US" sz="2000" b="1" dirty="0"/>
          </a:p>
        </p:txBody>
      </p:sp>
      <p:sp>
        <p:nvSpPr>
          <p:cNvPr id="23" name="Text 21"/>
          <p:cNvSpPr/>
          <p:nvPr/>
        </p:nvSpPr>
        <p:spPr>
          <a:xfrm>
            <a:off x="253288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</a:t>
            </a:r>
            <a:endParaRPr lang="en-US" sz="2000" b="1" dirty="0"/>
          </a:p>
        </p:txBody>
      </p:sp>
      <p:sp>
        <p:nvSpPr>
          <p:cNvPr id="24" name="Text 22"/>
          <p:cNvSpPr/>
          <p:nvPr/>
        </p:nvSpPr>
        <p:spPr>
          <a:xfrm>
            <a:off x="2532888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StartDate</a:t>
            </a:r>
            <a:endParaRPr lang="en-US" sz="2000" b="1" dirty="0"/>
          </a:p>
        </p:txBody>
      </p:sp>
      <p:sp>
        <p:nvSpPr>
          <p:cNvPr id="25" name="Text 23"/>
          <p:cNvSpPr/>
          <p:nvPr/>
        </p:nvSpPr>
        <p:spPr>
          <a:xfrm>
            <a:off x="2532888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EndDate</a:t>
            </a:r>
            <a:endParaRPr lang="en-US" sz="2000" b="1" dirty="0"/>
          </a:p>
        </p:txBody>
      </p:sp>
      <p:sp>
        <p:nvSpPr>
          <p:cNvPr id="26" name="Text 24"/>
          <p:cNvSpPr/>
          <p:nvPr/>
        </p:nvSpPr>
        <p:spPr>
          <a:xfrm>
            <a:off x="2532888" y="4398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2000" b="1" dirty="0"/>
          </a:p>
        </p:txBody>
      </p:sp>
      <p:sp>
        <p:nvSpPr>
          <p:cNvPr id="27" name="Shape 25"/>
          <p:cNvSpPr/>
          <p:nvPr/>
        </p:nvSpPr>
        <p:spPr>
          <a:xfrm>
            <a:off x="4663440" y="1097280"/>
            <a:ext cx="2103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97280"/>
            <a:ext cx="2103120" cy="457200"/>
          </a:xfrm>
          <a:prstGeom prst="rect">
            <a:avLst/>
          </a:prstGeom>
          <a:solidFill>
            <a:srgbClr val="FFC000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152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773168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(PK)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73168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(FK)</a:t>
            </a:r>
            <a:endParaRPr lang="en-US" sz="2000" b="1" dirty="0">
              <a:solidFill>
                <a:srgbClr val="FFC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7316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2000" b="1" dirty="0"/>
          </a:p>
        </p:txBody>
      </p:sp>
      <p:sp>
        <p:nvSpPr>
          <p:cNvPr id="33" name="Text 31"/>
          <p:cNvSpPr/>
          <p:nvPr/>
        </p:nvSpPr>
        <p:spPr>
          <a:xfrm>
            <a:off x="477316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AmountDue</a:t>
            </a:r>
            <a:endParaRPr lang="en-US" sz="2000" b="1" dirty="0"/>
          </a:p>
        </p:txBody>
      </p:sp>
      <p:sp>
        <p:nvSpPr>
          <p:cNvPr id="34" name="Text 32"/>
          <p:cNvSpPr/>
          <p:nvPr/>
        </p:nvSpPr>
        <p:spPr>
          <a:xfrm>
            <a:off x="477316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AmountPaid</a:t>
            </a:r>
            <a:endParaRPr lang="en-US" sz="2000" b="1" dirty="0"/>
          </a:p>
        </p:txBody>
      </p:sp>
      <p:sp>
        <p:nvSpPr>
          <p:cNvPr id="35" name="Text 33"/>
          <p:cNvSpPr/>
          <p:nvPr/>
        </p:nvSpPr>
        <p:spPr>
          <a:xfrm>
            <a:off x="4773168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PaymentDate</a:t>
            </a:r>
            <a:endParaRPr lang="en-US" sz="2000" b="1" dirty="0"/>
          </a:p>
        </p:txBody>
      </p:sp>
      <p:sp>
        <p:nvSpPr>
          <p:cNvPr id="36" name="Text 34"/>
          <p:cNvSpPr/>
          <p:nvPr/>
        </p:nvSpPr>
        <p:spPr>
          <a:xfrm>
            <a:off x="4773168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PenaltyFee</a:t>
            </a:r>
            <a:endParaRPr lang="en-US" sz="2000" b="1" dirty="0"/>
          </a:p>
        </p:txBody>
      </p:sp>
      <p:sp>
        <p:nvSpPr>
          <p:cNvPr id="37" name="Shape 35"/>
          <p:cNvSpPr/>
          <p:nvPr/>
        </p:nvSpPr>
        <p:spPr>
          <a:xfrm>
            <a:off x="6903720" y="1097280"/>
            <a:ext cx="2103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03720" y="1097280"/>
            <a:ext cx="2103120" cy="457200"/>
          </a:xfrm>
          <a:prstGeom prst="rect">
            <a:avLst/>
          </a:prstGeom>
          <a:solidFill>
            <a:srgbClr val="FFC00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1152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013448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(PK)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013448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</a:t>
            </a:r>
            <a:endParaRPr lang="en-US" sz="2000" b="1" dirty="0"/>
          </a:p>
        </p:txBody>
      </p:sp>
      <p:sp>
        <p:nvSpPr>
          <p:cNvPr id="42" name="Text 40"/>
          <p:cNvSpPr/>
          <p:nvPr/>
        </p:nvSpPr>
        <p:spPr>
          <a:xfrm>
            <a:off x="701344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2000" b="1" dirty="0"/>
          </a:p>
        </p:txBody>
      </p:sp>
      <p:sp>
        <p:nvSpPr>
          <p:cNvPr id="43" name="Text 41"/>
          <p:cNvSpPr/>
          <p:nvPr/>
        </p:nvSpPr>
        <p:spPr>
          <a:xfrm>
            <a:off x="7013448" y="2825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2000" b="1" dirty="0"/>
          </a:p>
        </p:txBody>
      </p:sp>
      <p:sp>
        <p:nvSpPr>
          <p:cNvPr id="44" name="Text 42"/>
          <p:cNvSpPr/>
          <p:nvPr/>
        </p:nvSpPr>
        <p:spPr>
          <a:xfrm>
            <a:off x="701344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2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53"/>
          <p:cNvCxnSpPr/>
          <p:nvPr/>
        </p:nvCxnSpPr>
        <p:spPr>
          <a:xfrm>
            <a:off x="4309737" y="3069590"/>
            <a:ext cx="0" cy="3445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600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873408"/>
              </p:ext>
            </p:extLst>
          </p:nvPr>
        </p:nvGraphicFramePr>
        <p:xfrm>
          <a:off x="365760" y="1465580"/>
          <a:ext cx="1863090" cy="112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38"/>
                <a:gridCol w="1390152"/>
              </a:tblGrid>
              <a:tr h="363220">
                <a:tc>
                  <a:txBody>
                    <a:bodyPr/>
                    <a:lstStyle/>
                    <a:p>
                      <a:r>
                        <a:rPr lang="en-US" sz="1050" b="1" dirty="0" smtClean="0">
                          <a:latin typeface="Arial Black" pitchFamily="34" charset="0"/>
                        </a:rPr>
                        <a:t>PK</a:t>
                      </a:r>
                      <a:endParaRPr lang="en-US" sz="105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latin typeface="Arial Black" pitchFamily="34" charset="0"/>
                        </a:rPr>
                        <a:t>Customer_id</a:t>
                      </a:r>
                      <a:r>
                        <a:rPr lang="en-US" sz="1000" b="1" baseline="0" dirty="0" smtClean="0">
                          <a:latin typeface="Arial Black" pitchFamily="34" charset="0"/>
                        </a:rPr>
                        <a:t> </a:t>
                      </a:r>
                      <a:r>
                        <a:rPr lang="en-US" sz="1000" b="1" dirty="0" smtClean="0">
                          <a:latin typeface="Arial Black" pitchFamily="34" charset="0"/>
                        </a:rPr>
                        <a:t>INT)</a:t>
                      </a:r>
                      <a:endParaRPr lang="en-US" sz="10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6445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name(VARCHAR)</a:t>
                      </a:r>
                    </a:p>
                    <a:p>
                      <a:r>
                        <a:rPr lang="en-US" sz="1100" dirty="0" smtClean="0"/>
                        <a:t>phone(VARCHAR)</a:t>
                      </a:r>
                    </a:p>
                    <a:p>
                      <a:r>
                        <a:rPr lang="en-US" sz="1100" dirty="0" smtClean="0"/>
                        <a:t>address(VARCHAR)</a:t>
                      </a:r>
                    </a:p>
                    <a:p>
                      <a:r>
                        <a:rPr lang="en-US" sz="1100" dirty="0" smtClean="0"/>
                        <a:t>region(VARCHAR)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365760" y="1188720"/>
            <a:ext cx="1863090" cy="276860"/>
          </a:xfrm>
          <a:prstGeom prst="rect">
            <a:avLst/>
          </a:prstGeom>
          <a:solidFill>
            <a:srgbClr val="F0C7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 Black" pitchFamily="34" charset="0"/>
              </a:rPr>
              <a:t>CUSTOMER</a:t>
            </a:r>
            <a:endParaRPr lang="en-US" b="1" dirty="0">
              <a:latin typeface="Arial Black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997549"/>
              </p:ext>
            </p:extLst>
          </p:nvPr>
        </p:nvGraphicFramePr>
        <p:xfrm>
          <a:off x="3284220" y="1515110"/>
          <a:ext cx="231648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217"/>
                <a:gridCol w="1779263"/>
              </a:tblGrid>
              <a:tr h="313690">
                <a:tc>
                  <a:txBody>
                    <a:bodyPr/>
                    <a:lstStyle/>
                    <a:p>
                      <a:r>
                        <a:rPr lang="en-US" dirty="0" smtClean="0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Loan_id</a:t>
                      </a:r>
                      <a:r>
                        <a:rPr lang="en-US" dirty="0" smtClean="0"/>
                        <a:t>(INT)</a:t>
                      </a:r>
                      <a:endParaRPr lang="en-US" dirty="0"/>
                    </a:p>
                  </a:txBody>
                  <a:tcPr/>
                </a:tc>
              </a:tr>
              <a:tr h="1241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Customer _id(INT)</a:t>
                      </a:r>
                      <a:r>
                        <a:rPr lang="en-US" sz="1100" baseline="0" dirty="0" smtClean="0"/>
                        <a:t>  FK</a:t>
                      </a:r>
                    </a:p>
                    <a:p>
                      <a:r>
                        <a:rPr lang="en-US" sz="1100" baseline="0" dirty="0" err="1" smtClean="0"/>
                        <a:t>Employee_id</a:t>
                      </a:r>
                      <a:r>
                        <a:rPr lang="en-US" sz="1100" baseline="0" dirty="0" smtClean="0"/>
                        <a:t>(INT)   FK</a:t>
                      </a:r>
                    </a:p>
                    <a:p>
                      <a:r>
                        <a:rPr lang="en-US" sz="1100" baseline="0" dirty="0" smtClean="0"/>
                        <a:t>Loan _amount(DECIMAL)</a:t>
                      </a:r>
                    </a:p>
                    <a:p>
                      <a:r>
                        <a:rPr lang="en-US" sz="1100" baseline="0" dirty="0" err="1" smtClean="0"/>
                        <a:t>Interest_rate</a:t>
                      </a:r>
                      <a:r>
                        <a:rPr lang="en-US" sz="1100" baseline="0" dirty="0" smtClean="0"/>
                        <a:t>(DECIMAL)</a:t>
                      </a:r>
                    </a:p>
                    <a:p>
                      <a:r>
                        <a:rPr lang="en-US" sz="1100" baseline="0" dirty="0" err="1" smtClean="0"/>
                        <a:t>Start_date</a:t>
                      </a:r>
                      <a:r>
                        <a:rPr lang="en-US" sz="1100" baseline="0" dirty="0" smtClean="0"/>
                        <a:t>(DATE)</a:t>
                      </a:r>
                    </a:p>
                    <a:p>
                      <a:r>
                        <a:rPr lang="en-US" sz="1100" baseline="0" dirty="0" err="1" smtClean="0"/>
                        <a:t>Due_date</a:t>
                      </a:r>
                      <a:r>
                        <a:rPr lang="en-US" sz="1100" baseline="0" dirty="0" smtClean="0"/>
                        <a:t>(DATE)</a:t>
                      </a:r>
                    </a:p>
                    <a:p>
                      <a:r>
                        <a:rPr lang="en-US" sz="1100" baseline="0" dirty="0" smtClean="0"/>
                        <a:t>Status(VARCHAR)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3284220" y="1188720"/>
            <a:ext cx="2316480" cy="326390"/>
          </a:xfrm>
          <a:prstGeom prst="rect">
            <a:avLst/>
          </a:prstGeom>
          <a:solidFill>
            <a:srgbClr val="F0C7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 Black" pitchFamily="34" charset="0"/>
              </a:rPr>
              <a:t>LOAN</a:t>
            </a:r>
            <a:endParaRPr lang="en-US" b="1" dirty="0">
              <a:latin typeface="Arial Black" pitchFamily="34" charset="0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89318"/>
              </p:ext>
            </p:extLst>
          </p:nvPr>
        </p:nvGraphicFramePr>
        <p:xfrm>
          <a:off x="3284221" y="3907356"/>
          <a:ext cx="2419350" cy="1153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9"/>
                <a:gridCol w="1931671"/>
              </a:tblGrid>
              <a:tr h="321744">
                <a:tc>
                  <a:txBody>
                    <a:bodyPr/>
                    <a:lstStyle/>
                    <a:p>
                      <a:r>
                        <a:rPr lang="en-US" dirty="0" smtClean="0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payment_id</a:t>
                      </a:r>
                      <a:r>
                        <a:rPr lang="en-US" dirty="0" smtClean="0"/>
                        <a:t>(INT)</a:t>
                      </a:r>
                      <a:endParaRPr lang="en-US" dirty="0"/>
                    </a:p>
                  </a:txBody>
                  <a:tcPr/>
                </a:tc>
              </a:tr>
              <a:tr h="78802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/>
                        <a:t>loan_id</a:t>
                      </a:r>
                      <a:r>
                        <a:rPr lang="en-US" sz="1100" dirty="0" smtClean="0"/>
                        <a:t>(INT)                 FK</a:t>
                      </a:r>
                    </a:p>
                    <a:p>
                      <a:r>
                        <a:rPr lang="en-US" sz="1100" dirty="0" err="1" smtClean="0"/>
                        <a:t>amount_paid</a:t>
                      </a:r>
                      <a:r>
                        <a:rPr lang="en-US" sz="1100" dirty="0" smtClean="0"/>
                        <a:t>(DECIMAL)</a:t>
                      </a:r>
                    </a:p>
                    <a:p>
                      <a:r>
                        <a:rPr lang="en-US" sz="1100" dirty="0" err="1" smtClean="0"/>
                        <a:t>payment_date</a:t>
                      </a:r>
                      <a:r>
                        <a:rPr lang="en-US" sz="1100" dirty="0" smtClean="0"/>
                        <a:t>(DATE)</a:t>
                      </a:r>
                    </a:p>
                    <a:p>
                      <a:r>
                        <a:rPr lang="en-US" sz="1100" dirty="0" err="1" smtClean="0"/>
                        <a:t>payment_method</a:t>
                      </a:r>
                      <a:r>
                        <a:rPr lang="en-US" sz="1100" dirty="0" smtClean="0"/>
                        <a:t>(VARCHAR)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284219" y="3580966"/>
            <a:ext cx="2419351" cy="326390"/>
          </a:xfrm>
          <a:prstGeom prst="rect">
            <a:avLst/>
          </a:prstGeom>
          <a:solidFill>
            <a:srgbClr val="F0C7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 Black" pitchFamily="34" charset="0"/>
              </a:rPr>
              <a:t>PAYMENT</a:t>
            </a:r>
            <a:endParaRPr lang="en-US" b="1" dirty="0">
              <a:latin typeface="Arial Black" pitchFamily="34" charset="0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53049"/>
              </p:ext>
            </p:extLst>
          </p:nvPr>
        </p:nvGraphicFramePr>
        <p:xfrm>
          <a:off x="6324600" y="1546860"/>
          <a:ext cx="2270760" cy="90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"/>
                <a:gridCol w="1771650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 smtClean="0"/>
                        <a:t>PK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employee_id</a:t>
                      </a:r>
                      <a:r>
                        <a:rPr lang="en-US" sz="1400" dirty="0" smtClean="0"/>
                        <a:t>(INT)</a:t>
                      </a:r>
                      <a:endParaRPr lang="en-US" sz="1400" dirty="0"/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name(VARCHAR)</a:t>
                      </a:r>
                    </a:p>
                    <a:p>
                      <a:r>
                        <a:rPr lang="en-US" sz="1100" dirty="0" smtClean="0"/>
                        <a:t>position(VARCHAR)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6324600" y="1188720"/>
            <a:ext cx="2270760" cy="358140"/>
          </a:xfrm>
          <a:prstGeom prst="rect">
            <a:avLst/>
          </a:prstGeom>
          <a:solidFill>
            <a:srgbClr val="F0C7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 Black" pitchFamily="34" charset="0"/>
              </a:rPr>
              <a:t>EMPLOYEE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315347" y="1892692"/>
            <a:ext cx="8210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</a:t>
            </a:r>
            <a:r>
              <a:rPr lang="en-US" sz="1050" dirty="0" smtClean="0"/>
              <a:t>pplies 1:M</a:t>
            </a:r>
            <a:endParaRPr lang="en-US" sz="1050" dirty="0"/>
          </a:p>
        </p:txBody>
      </p:sp>
      <p:sp>
        <p:nvSpPr>
          <p:cNvPr id="45" name="TextBox 44"/>
          <p:cNvSpPr txBox="1"/>
          <p:nvPr/>
        </p:nvSpPr>
        <p:spPr>
          <a:xfrm>
            <a:off x="5513071" y="1938302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reviews1:M</a:t>
            </a:r>
            <a:endParaRPr lang="en-US" sz="1050" dirty="0"/>
          </a:p>
        </p:txBody>
      </p:sp>
      <p:sp>
        <p:nvSpPr>
          <p:cNvPr id="46" name="TextBox 45"/>
          <p:cNvSpPr txBox="1"/>
          <p:nvPr/>
        </p:nvSpPr>
        <p:spPr>
          <a:xfrm>
            <a:off x="4391660" y="3236420"/>
            <a:ext cx="6222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has 1:M</a:t>
            </a:r>
            <a:endParaRPr lang="en-US" sz="105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5588000" y="2209800"/>
            <a:ext cx="5969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2305050" y="2209800"/>
            <a:ext cx="73236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986365" y="2007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100901" y="20251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&lt;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 rot="5400000" flipH="1">
            <a:off x="4128761" y="3330435"/>
            <a:ext cx="36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&gt;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969264"/>
            <a:ext cx="9144000" cy="4174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— MySQL SCHEMA</a:t>
            </a:r>
            <a:endParaRPr lang="en-US" sz="2400" dirty="0"/>
          </a:p>
        </p:txBody>
      </p:sp>
      <p:pic>
        <p:nvPicPr>
          <p:cNvPr id="1027" name="Picture 3" descr="C:\Users\MUGAGGA\Pictures\Screenshots\Screenshot 2026-05-06 18314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31" y="969264"/>
            <a:ext cx="7414937" cy="417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— MySQL SCHEMA</a:t>
            </a:r>
            <a:endParaRPr lang="en-US" sz="2400" dirty="0"/>
          </a:p>
        </p:txBody>
      </p:sp>
      <p:pic>
        <p:nvPicPr>
          <p:cNvPr id="2050" name="Picture 2" descr="C:\Users\MUGAGGA\Pictures\Screenshots\Screenshot 2026-05-06 1832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0965"/>
            <a:ext cx="9144000" cy="423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37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060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— MySQL SCHEMA</a:t>
            </a:r>
            <a:endParaRPr lang="en-US" sz="2400" dirty="0"/>
          </a:p>
        </p:txBody>
      </p:sp>
      <p:pic>
        <p:nvPicPr>
          <p:cNvPr id="3074" name="Picture 2" descr="C:\Users\MUGAGGA\Pictures\Screenshots\Screenshot 2026-05-06 18324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91440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8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QUERIES &amp;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0972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All Active Loans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c.FullName, l.LoanID, l.Principal, l.Status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 JOIN Loan l ON c.CustomerID = l.CustomerID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l.Status = 'Active';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1188720"/>
            <a:ext cx="283464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070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customers with active loans and their amounts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37744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77440"/>
            <a:ext cx="10972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Overdue Repayments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l.LoanID, r.DueDate, r.AmountDue, r.AmountPaid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Repayment r JOIN Loan l ON r.LoanID = l.LoanID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r.DueDate &lt; CURDATE() AND r.AmountPaid &lt; r.AmountDue;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2468880"/>
            <a:ext cx="283464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4871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2697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all loans with missed or partial payments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65760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657600"/>
            <a:ext cx="109728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03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Total Loans by Officer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o.FullName, COUNT(l.LoanID) AS TotalLoans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Officer o JOIN Loan l ON o.OfficerID = l.OfficerID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o.FullName ORDER BY TotalLoans DESC;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3749040"/>
            <a:ext cx="283464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767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officer's loan processing count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06240" cy="173736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MySQL Workbench — Table Structure 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Table 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06240" cy="173736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MySQL Workbench — Query Results 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Query Results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3063240"/>
            <a:ext cx="4206240" cy="173736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Database Schema (Relationships View)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(Relationships View)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063240"/>
            <a:ext cx="4206240" cy="1737360"/>
          </a:xfrm>
          <a:prstGeom prst="rect">
            <a:avLst/>
          </a:prstGeom>
          <a:solidFill>
            <a:srgbClr val="E8EAF6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Sample Data — Customer Table 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Customer Table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73736"/>
            <a:ext cx="3657600" cy="3657600"/>
          </a:xfrm>
          <a:prstGeom prst="ellipse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Management System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real banking value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normalized MySQL relational database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15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Covers the complete loan lifecycle end-to-end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Supports key banking user groups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83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design ready for production deployment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9087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  |  GitHub: [your-username]/loan-management-system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576</Words>
  <Application>Microsoft Office PowerPoint</Application>
  <PresentationFormat>On-screen Show (16:9)</PresentationFormat>
  <Paragraphs>175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Management System</dc:title>
  <dc:subject>PptxGenJS Presentation</dc:subject>
  <dc:creator>PptxGenJS</dc:creator>
  <cp:lastModifiedBy>MUGAGGA</cp:lastModifiedBy>
  <cp:revision>13</cp:revision>
  <dcterms:created xsi:type="dcterms:W3CDTF">2026-05-05T07:50:31Z</dcterms:created>
  <dcterms:modified xsi:type="dcterms:W3CDTF">2026-05-06T22:43:53Z</dcterms:modified>
</cp:coreProperties>
</file>